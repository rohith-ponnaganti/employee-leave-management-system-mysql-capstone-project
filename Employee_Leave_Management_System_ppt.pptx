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73" r:id="rId4"/>
    <p:sldId id="274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301" autoAdjust="0"/>
  </p:normalViewPr>
  <p:slideViewPr>
    <p:cSldViewPr snapToGrid="0" snapToObjects="1">
      <p:cViewPr varScale="1">
        <p:scale>
          <a:sx n="64" d="100"/>
          <a:sy n="64" d="100"/>
        </p:scale>
        <p:origin x="67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53489-CA3E-4EAE-B8DC-364E8DD493A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CCBD1-24B7-4AEE-AAAE-FDCD2E4B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7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CCBD1-24B7-4AEE-AAAE-FDCD2E4B349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935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CCBD1-24B7-4AEE-AAAE-FDCD2E4B349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405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CCBD1-24B7-4AEE-AAAE-FDCD2E4B349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140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323" y="1342018"/>
            <a:ext cx="12084678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05494" y="1761436"/>
            <a:ext cx="9123306" cy="1042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  <a:defRPr sz="2700" b="1">
                <a:solidFill>
                  <a:srgbClr val="162645"/>
                </a:solidFill>
                <a:latin typeface="Aptos"/>
              </a:defRPr>
            </a:pPr>
            <a:r>
              <a:rPr lang="en-IN" dirty="0"/>
              <a:t>                  Employee Leave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-1" y="0"/>
            <a:ext cx="107323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76958" y="2429364"/>
            <a:ext cx="9418320" cy="205081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62645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2700" b="0">
                <a:solidFill>
                  <a:srgbClr val="162645"/>
                </a:solidFill>
                <a:latin typeface="Aptos"/>
              </a:defRPr>
            </a:pPr>
            <a:r>
              <a:rPr lang="en-US" sz="1600" dirty="0">
                <a:latin typeface="Arial Black" panose="020B0A04020102020204" pitchFamily="34" charset="0"/>
              </a:rPr>
              <a:t>                                             </a:t>
            </a:r>
            <a:r>
              <a:rPr sz="1600" dirty="0">
                <a:latin typeface="Arial Black" panose="020B0A04020102020204" pitchFamily="34" charset="0"/>
              </a:rPr>
              <a:t>Team Member</a:t>
            </a:r>
            <a:r>
              <a:rPr lang="en-US" sz="1600" dirty="0">
                <a:latin typeface="Arial Black" panose="020B0A04020102020204" pitchFamily="34" charset="0"/>
              </a:rPr>
              <a:t>s</a:t>
            </a:r>
            <a:r>
              <a:rPr sz="1600" dirty="0">
                <a:latin typeface="Arial Black" panose="020B0A04020102020204" pitchFamily="34" charset="0"/>
              </a:rPr>
              <a:t>: </a:t>
            </a:r>
            <a:r>
              <a:rPr lang="en-US" sz="1600" dirty="0">
                <a:latin typeface="Arial Black" panose="020B0A04020102020204" pitchFamily="34" charset="0"/>
              </a:rPr>
              <a:t>1)</a:t>
            </a:r>
            <a:r>
              <a:rPr sz="1600" dirty="0">
                <a:latin typeface="Arial Black" panose="020B0A04020102020204" pitchFamily="34" charset="0"/>
              </a:rPr>
              <a:t>Varun Kumar</a:t>
            </a:r>
            <a:endParaRPr lang="en-US" sz="1600" dirty="0">
              <a:latin typeface="Arial Black" panose="020B0A04020102020204" pitchFamily="34" charset="0"/>
            </a:endParaRPr>
          </a:p>
          <a:p>
            <a:pPr>
              <a:spcAft>
                <a:spcPts val="500"/>
              </a:spcAft>
              <a:defRPr sz="2700" b="0">
                <a:solidFill>
                  <a:srgbClr val="162645"/>
                </a:solidFill>
                <a:latin typeface="Aptos"/>
              </a:defRPr>
            </a:pPr>
            <a:r>
              <a:rPr lang="en-US" sz="1600" dirty="0">
                <a:latin typeface="Arial Black" panose="020B0A04020102020204" pitchFamily="34" charset="0"/>
              </a:rPr>
              <a:t>                                                                                2)Rohith</a:t>
            </a:r>
          </a:p>
          <a:p>
            <a:pPr>
              <a:spcAft>
                <a:spcPts val="500"/>
              </a:spcAft>
              <a:defRPr sz="2700" b="0">
                <a:solidFill>
                  <a:srgbClr val="162645"/>
                </a:solidFill>
                <a:latin typeface="Aptos"/>
              </a:defRPr>
            </a:pPr>
            <a:r>
              <a:rPr lang="en-US" sz="1600" dirty="0">
                <a:latin typeface="Arial Black" panose="020B0A04020102020204" pitchFamily="34" charset="0"/>
              </a:rPr>
              <a:t>                                                                                3)</a:t>
            </a:r>
            <a:r>
              <a:rPr lang="en-US" sz="1600" dirty="0" err="1">
                <a:latin typeface="Arial Black" panose="020B0A04020102020204" pitchFamily="34" charset="0"/>
              </a:rPr>
              <a:t>siva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600" dirty="0">
                <a:latin typeface="Arial Black" panose="020B0A04020102020204" pitchFamily="34" charset="0"/>
              </a:rPr>
              <a:t>                                                                                4)</a:t>
            </a:r>
            <a:r>
              <a:rPr lang="en-US" sz="1600" dirty="0" err="1">
                <a:latin typeface="Arial Black" panose="020B0A04020102020204" pitchFamily="34" charset="0"/>
              </a:rPr>
              <a:t>phani</a:t>
            </a:r>
            <a:endParaRPr lang="en-US" sz="1600" dirty="0">
              <a:latin typeface="Arial Black" panose="020B0A04020102020204" pitchFamily="34" charset="0"/>
            </a:endParaRPr>
          </a:p>
          <a:p>
            <a:pPr>
              <a:spcAft>
                <a:spcPts val="500"/>
              </a:spcAft>
              <a:defRPr sz="2700" b="0">
                <a:solidFill>
                  <a:srgbClr val="162645"/>
                </a:solidFill>
                <a:latin typeface="Aptos"/>
              </a:defRPr>
            </a:pPr>
            <a:r>
              <a:rPr lang="en-US" sz="1600" dirty="0">
                <a:latin typeface="Arial Black" panose="020B0A04020102020204" pitchFamily="34" charset="0"/>
              </a:rP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01 / 17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44054" y="694944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rPr lang="en-US" dirty="0"/>
              <a:t>           </a:t>
            </a:r>
            <a:r>
              <a:rPr dirty="0"/>
              <a:t>ER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10927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E6E80"/>
                </a:solidFill>
                <a:latin typeface="Aptos"/>
              </a:defRPr>
            </a:pPr>
            <a:r>
              <a:t>EMPLOYEE LEAVE MANAGEMENT SYSTEM  •  SQL DATABASE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05 / 17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377E8F-A880-757A-4F68-47B2F80EF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874520"/>
            <a:ext cx="9753600" cy="416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>
            <a:extLst>
              <a:ext uri="{FF2B5EF4-FFF2-40B4-BE49-F238E27FC236}">
                <a16:creationId xmlns:a16="http://schemas.microsoft.com/office/drawing/2014/main" id="{D1F64584-CC83-089A-26BE-E49EA3C47BFA}"/>
              </a:ext>
            </a:extLst>
          </p:cNvPr>
          <p:cNvSpPr/>
          <p:nvPr/>
        </p:nvSpPr>
        <p:spPr>
          <a:xfrm>
            <a:off x="609585" y="261952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DQL</a:t>
            </a:r>
            <a:endParaRPr lang="en-US" sz="11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AB4BFCDB-9B94-7CAC-2DCD-F38BE700D84F}"/>
              </a:ext>
            </a:extLst>
          </p:cNvPr>
          <p:cNvSpPr/>
          <p:nvPr/>
        </p:nvSpPr>
        <p:spPr>
          <a:xfrm>
            <a:off x="609585" y="541193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14" dirty="0">
                <a:latin typeface="Ledger" pitchFamily="34" charset="0"/>
                <a:ea typeface="Ledger" pitchFamily="34" charset="-122"/>
                <a:cs typeface="Ledger" pitchFamily="34" charset="-120"/>
              </a:rPr>
              <a:t>Data Query Language reads records</a:t>
            </a:r>
            <a:endParaRPr lang="en-US" sz="28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A7D6CE76-0F9D-BBC0-9E0F-48EF160612F8}"/>
              </a:ext>
            </a:extLst>
          </p:cNvPr>
          <p:cNvSpPr/>
          <p:nvPr/>
        </p:nvSpPr>
        <p:spPr>
          <a:xfrm>
            <a:off x="609585" y="1103922"/>
            <a:ext cx="10972526" cy="1546622"/>
          </a:xfrm>
          <a:prstGeom prst="roundRect">
            <a:avLst>
              <a:gd name="adj" fmla="val 739"/>
            </a:avLst>
          </a:prstGeom>
          <a:solidFill>
            <a:srgbClr val="132827"/>
          </a:solidFill>
          <a:ln/>
        </p:spPr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40C76039-7746-3E00-061C-0BC55ED713F2}"/>
              </a:ext>
            </a:extLst>
          </p:cNvPr>
          <p:cNvSpPr/>
          <p:nvPr/>
        </p:nvSpPr>
        <p:spPr>
          <a:xfrm>
            <a:off x="830539" y="1288072"/>
            <a:ext cx="1053061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employee_name, start_date, status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Leave_Requests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'Pending'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start_date;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F4A2DD33-45CE-A9D9-8B61-E7288FA50C60}"/>
              </a:ext>
            </a:extLst>
          </p:cNvPr>
          <p:cNvSpPr/>
          <p:nvPr/>
        </p:nvSpPr>
        <p:spPr>
          <a:xfrm>
            <a:off x="609585" y="2857713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45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77BDEB5B-F934-5E0B-C945-4263735B0FB5}"/>
              </a:ext>
            </a:extLst>
          </p:cNvPr>
          <p:cNvSpPr/>
          <p:nvPr/>
        </p:nvSpPr>
        <p:spPr>
          <a:xfrm>
            <a:off x="11576852" y="6093335"/>
            <a:ext cx="614843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6 / 13</a:t>
            </a:r>
            <a:endParaRPr lang="en-US" sz="900" dirty="0"/>
          </a:p>
        </p:txBody>
      </p:sp>
      <p:sp>
        <p:nvSpPr>
          <p:cNvPr id="42" name="Text 0">
            <a:extLst>
              <a:ext uri="{FF2B5EF4-FFF2-40B4-BE49-F238E27FC236}">
                <a16:creationId xmlns:a16="http://schemas.microsoft.com/office/drawing/2014/main" id="{1006FF3E-4E81-6D60-9B1C-07279BD0D224}"/>
              </a:ext>
            </a:extLst>
          </p:cNvPr>
          <p:cNvSpPr/>
          <p:nvPr/>
        </p:nvSpPr>
        <p:spPr>
          <a:xfrm>
            <a:off x="609585" y="29504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DDL</a:t>
            </a:r>
            <a:endParaRPr lang="en-US" sz="1100" dirty="0"/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69AB8C14-6866-CFAE-C2AC-C3C36110A885}"/>
              </a:ext>
            </a:extLst>
          </p:cNvPr>
          <p:cNvSpPr/>
          <p:nvPr/>
        </p:nvSpPr>
        <p:spPr>
          <a:xfrm>
            <a:off x="609585" y="3229641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14" dirty="0">
                <a:latin typeface="Ledger" pitchFamily="34" charset="0"/>
                <a:ea typeface="Ledger" pitchFamily="34" charset="-122"/>
                <a:cs typeface="Ledger" pitchFamily="34" charset="-120"/>
              </a:rPr>
              <a:t>Data Definition Language builds the structure</a:t>
            </a:r>
            <a:endParaRPr lang="en-US" sz="280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51BB9A31-E7A0-420C-2D20-5FED4E0F15A2}"/>
              </a:ext>
            </a:extLst>
          </p:cNvPr>
          <p:cNvSpPr/>
          <p:nvPr/>
        </p:nvSpPr>
        <p:spPr>
          <a:xfrm>
            <a:off x="609585" y="3792370"/>
            <a:ext cx="10972526" cy="2135783"/>
          </a:xfrm>
          <a:prstGeom prst="roundRect">
            <a:avLst>
              <a:gd name="adj" fmla="val 535"/>
            </a:avLst>
          </a:prstGeom>
          <a:solidFill>
            <a:srgbClr val="132827"/>
          </a:solidFill>
          <a:ln/>
        </p:spPr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3A243142-B485-2F61-FB95-32B2509BAD8D}"/>
              </a:ext>
            </a:extLst>
          </p:cNvPr>
          <p:cNvSpPr/>
          <p:nvPr/>
        </p:nvSpPr>
        <p:spPr>
          <a:xfrm>
            <a:off x="830539" y="3976520"/>
            <a:ext cx="10530616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Leave_Types (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leave_type_id INT PRIMARY KEY,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leave_type_name VARCHAR(50) NOT NULL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Leave_Requests ADD COLUMN reason VARCHAR(200);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192E6BAC-5528-95A9-93EB-C18067ECDCB5}"/>
              </a:ext>
            </a:extLst>
          </p:cNvPr>
          <p:cNvSpPr/>
          <p:nvPr/>
        </p:nvSpPr>
        <p:spPr>
          <a:xfrm>
            <a:off x="609585" y="6135322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45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F05FD8B8-3347-FDFA-DC4C-D1D631F7F2EF}"/>
              </a:ext>
            </a:extLst>
          </p:cNvPr>
          <p:cNvSpPr/>
          <p:nvPr/>
        </p:nvSpPr>
        <p:spPr>
          <a:xfrm>
            <a:off x="11587369" y="8781783"/>
            <a:ext cx="604326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7 / 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59168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7EE78CB-7E51-9717-A577-5442D3BA2962}"/>
              </a:ext>
            </a:extLst>
          </p:cNvPr>
          <p:cNvSpPr/>
          <p:nvPr/>
        </p:nvSpPr>
        <p:spPr>
          <a:xfrm>
            <a:off x="603334" y="177265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DML</a:t>
            </a:r>
            <a:endParaRPr lang="en-US" sz="11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444B05-76BC-DDC5-1000-4B3733841EA3}"/>
              </a:ext>
            </a:extLst>
          </p:cNvPr>
          <p:cNvSpPr/>
          <p:nvPr/>
        </p:nvSpPr>
        <p:spPr>
          <a:xfrm>
            <a:off x="603334" y="456506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14" dirty="0">
                <a:latin typeface="Ledger" pitchFamily="34" charset="0"/>
                <a:ea typeface="Ledger" pitchFamily="34" charset="-122"/>
                <a:cs typeface="Ledger" pitchFamily="34" charset="-120"/>
              </a:rPr>
              <a:t>Data Manipulation Language: changes rows</a:t>
            </a:r>
            <a:endParaRPr lang="en-US" sz="28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BB49934-C6A9-16BD-751A-41E6CA2D4395}"/>
              </a:ext>
            </a:extLst>
          </p:cNvPr>
          <p:cNvSpPr/>
          <p:nvPr/>
        </p:nvSpPr>
        <p:spPr>
          <a:xfrm>
            <a:off x="603334" y="1019235"/>
            <a:ext cx="10972526" cy="2135783"/>
          </a:xfrm>
          <a:prstGeom prst="roundRect">
            <a:avLst>
              <a:gd name="adj" fmla="val 535"/>
            </a:avLst>
          </a:prstGeom>
          <a:solidFill>
            <a:srgbClr val="13282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CD24090-3863-0194-2CFA-5BDEB68E6ACB}"/>
              </a:ext>
            </a:extLst>
          </p:cNvPr>
          <p:cNvSpPr/>
          <p:nvPr/>
        </p:nvSpPr>
        <p:spPr>
          <a:xfrm>
            <a:off x="824288" y="1203385"/>
            <a:ext cx="10530616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Leave_Requests (employee_id, leave_type_id, start_date, end_date, status)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(101, 2, '2026-11-10', '2026-11-10', 'Pending');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Leave_Requests SET status = 'Approved' WHERE request_id = 1;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Leave_Requests WHERE request_id = 9;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AA83D9F-6D2C-890D-7C7D-66C6AF27EA0B}"/>
              </a:ext>
            </a:extLst>
          </p:cNvPr>
          <p:cNvSpPr/>
          <p:nvPr/>
        </p:nvSpPr>
        <p:spPr>
          <a:xfrm>
            <a:off x="11569609" y="6008648"/>
            <a:ext cx="61583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8 / 13</a:t>
            </a:r>
            <a:endParaRPr lang="en-US" sz="9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8440FDFE-1062-FE3C-6ED2-562CA5DA51D9}"/>
              </a:ext>
            </a:extLst>
          </p:cNvPr>
          <p:cNvSpPr/>
          <p:nvPr/>
        </p:nvSpPr>
        <p:spPr>
          <a:xfrm>
            <a:off x="603334" y="343154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TCL</a:t>
            </a:r>
            <a:endParaRPr lang="en-US" sz="11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2E190F11-C612-C88E-388B-E10BA226634F}"/>
              </a:ext>
            </a:extLst>
          </p:cNvPr>
          <p:cNvSpPr/>
          <p:nvPr/>
        </p:nvSpPr>
        <p:spPr>
          <a:xfrm>
            <a:off x="603334" y="3710781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14" dirty="0">
                <a:latin typeface="Ledger" pitchFamily="34" charset="0"/>
                <a:ea typeface="Ledger" pitchFamily="34" charset="-122"/>
                <a:cs typeface="Ledger" pitchFamily="34" charset="-120"/>
              </a:rPr>
              <a:t>Transaction Control Language protects consistency</a:t>
            </a:r>
            <a:endParaRPr lang="en-US" sz="28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F924DD58-9D6B-4285-8524-E3AFC9261EA0}"/>
              </a:ext>
            </a:extLst>
          </p:cNvPr>
          <p:cNvSpPr/>
          <p:nvPr/>
        </p:nvSpPr>
        <p:spPr>
          <a:xfrm>
            <a:off x="603334" y="4273510"/>
            <a:ext cx="10972526" cy="2135783"/>
          </a:xfrm>
          <a:prstGeom prst="roundRect">
            <a:avLst>
              <a:gd name="adj" fmla="val 535"/>
            </a:avLst>
          </a:prstGeom>
          <a:solidFill>
            <a:srgbClr val="13282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788B07A-62F9-9757-F080-20F6FCDC5D54}"/>
              </a:ext>
            </a:extLst>
          </p:cNvPr>
          <p:cNvSpPr/>
          <p:nvPr/>
        </p:nvSpPr>
        <p:spPr>
          <a:xfrm>
            <a:off x="824288" y="4457660"/>
            <a:ext cx="10530616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Leave_Balances SET remaining_days = remaining_days - 2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employee_id = 101 AND leave_type_id = 1;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 before_log;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Leave_Request_Log (request_id, status) VALUES (1, 'Approved');</a:t>
            </a: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FD8D3239-F225-9F37-B4B3-B5FA4D198305}"/>
              </a:ext>
            </a:extLst>
          </p:cNvPr>
          <p:cNvSpPr/>
          <p:nvPr/>
        </p:nvSpPr>
        <p:spPr>
          <a:xfrm>
            <a:off x="603334" y="6616462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45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060BE35-7F0A-0333-9437-638F393E2C37}"/>
              </a:ext>
            </a:extLst>
          </p:cNvPr>
          <p:cNvSpPr/>
          <p:nvPr/>
        </p:nvSpPr>
        <p:spPr>
          <a:xfrm>
            <a:off x="11570601" y="9262923"/>
            <a:ext cx="614843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9 / 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040930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t>Joins: Connecting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Related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2292" y="2167128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INNER JOIN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Combines employees with their leave requests.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LEFT JOIN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Keeps employees who have no leave requests.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Related Details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Employee name, leave type, start date, and status in one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9840" y="2295144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e.employee_name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</a:t>
            </a:r>
            <a:r>
              <a:rPr dirty="0" err="1"/>
              <a:t>lt.leave_type_name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</a:t>
            </a:r>
            <a:r>
              <a:rPr dirty="0" err="1"/>
              <a:t>lr.start_date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</a:t>
            </a:r>
            <a:r>
              <a:rPr dirty="0" err="1"/>
              <a:t>lr.status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FROM Employees e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JOIN </a:t>
            </a:r>
            <a:r>
              <a:rPr dirty="0" err="1"/>
              <a:t>Leave_Requests</a:t>
            </a:r>
            <a:r>
              <a:rPr dirty="0"/>
              <a:t> </a:t>
            </a:r>
            <a:r>
              <a:rPr dirty="0" err="1"/>
              <a:t>lr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ON </a:t>
            </a:r>
            <a:r>
              <a:rPr dirty="0" err="1"/>
              <a:t>e.employee_id</a:t>
            </a:r>
            <a:r>
              <a:rPr dirty="0"/>
              <a:t> = </a:t>
            </a:r>
            <a:r>
              <a:rPr dirty="0" err="1"/>
              <a:t>lr.employee_id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JOIN </a:t>
            </a:r>
            <a:r>
              <a:rPr dirty="0" err="1"/>
              <a:t>Leave_Types</a:t>
            </a:r>
            <a:r>
              <a:rPr dirty="0"/>
              <a:t> </a:t>
            </a:r>
            <a:r>
              <a:rPr dirty="0" err="1"/>
              <a:t>lt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ON </a:t>
            </a:r>
            <a:r>
              <a:rPr dirty="0" err="1"/>
              <a:t>lr.leave_type_id</a:t>
            </a:r>
            <a:r>
              <a:rPr dirty="0"/>
              <a:t> = </a:t>
            </a:r>
            <a:r>
              <a:rPr dirty="0" err="1"/>
              <a:t>lt.leave_type_id</a:t>
            </a:r>
            <a:r>
              <a:rPr dirty="0"/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07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t>Aggregate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Summary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576" y="1956816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SUM()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Total remaining leave days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MAX() / MIN()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Highest and lowest balances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ROUND(AVG())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Average remaining balance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rPr dirty="0"/>
              <a:t>CASE WHEN can summarize approved and rejected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08192" y="2157984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SELECT SUM(</a:t>
            </a:r>
            <a:r>
              <a:rPr dirty="0" err="1"/>
              <a:t>remaining_days</a:t>
            </a:r>
            <a:r>
              <a:rPr dirty="0"/>
              <a:t>) AS </a:t>
            </a:r>
            <a:r>
              <a:rPr dirty="0" err="1"/>
              <a:t>total_remaining_days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MAX(</a:t>
            </a:r>
            <a:r>
              <a:rPr dirty="0" err="1"/>
              <a:t>remaining_days</a:t>
            </a:r>
            <a:r>
              <a:rPr dirty="0"/>
              <a:t>) AS </a:t>
            </a:r>
            <a:r>
              <a:rPr dirty="0" err="1"/>
              <a:t>highest_balance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MIN(</a:t>
            </a:r>
            <a:r>
              <a:rPr dirty="0" err="1"/>
              <a:t>remaining_days</a:t>
            </a:r>
            <a:r>
              <a:rPr dirty="0"/>
              <a:t>) AS </a:t>
            </a:r>
            <a:r>
              <a:rPr dirty="0" err="1"/>
              <a:t>lowest_balance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ROUND(AVG(</a:t>
            </a:r>
            <a:r>
              <a:rPr dirty="0" err="1"/>
              <a:t>remaining_days</a:t>
            </a:r>
            <a:r>
              <a:rPr dirty="0"/>
              <a:t>), 2) AS </a:t>
            </a:r>
            <a:r>
              <a:rPr dirty="0" err="1"/>
              <a:t>average_balance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Leave_Balances</a:t>
            </a:r>
            <a:r>
              <a:rPr dirty="0"/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E6E80"/>
                </a:solidFill>
                <a:latin typeface="Aptos"/>
              </a:defRPr>
            </a:pPr>
            <a:r>
              <a:t>EMPLOYEE LEAVE MANAGEMENT SYSTEM  •  SQL DATABASE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08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t>String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Text formatting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885588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CONCAT()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Combines employee name and leave type.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UPPER()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Displays names in capital letters.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Aliases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AS creates readable output column names.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Example output: Ana Lopez - Annual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56960" y="2468880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SELECT CONCAT(e.employee_name, ' - ',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       lt.leave_type_name) AS employee_leave,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       UPPER(e.employee_name) AS employee_name_upper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FROM Employees e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JOIN Leave_Requests lr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  ON e.employee_id = lr.employee_id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JOIN Leave_Types lt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t>  ON lr.leave_type_id = lt.leave_type_id;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E6E80"/>
                </a:solidFill>
                <a:latin typeface="Aptos"/>
              </a:defRPr>
            </a:pPr>
            <a:r>
              <a:t>EMPLOYEE LEAVE MANAGEMENT SYSTEM  •  SQL DATABASE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09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t>Date &amp; Time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Date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3872" y="1957777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YEAR()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Extracts the year from start_date.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MONTHNAME()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Returns a month name such as November.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MONTH()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Supports calendar-month grouping and sorting.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The sample project describes 30 requests in November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8" y="2468880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SELECT YEAR(</a:t>
            </a:r>
            <a:r>
              <a:rPr dirty="0" err="1"/>
              <a:t>start_date</a:t>
            </a:r>
            <a:r>
              <a:rPr dirty="0"/>
              <a:t>) AS year,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MONTHNAME(</a:t>
            </a:r>
            <a:r>
              <a:rPr dirty="0" err="1"/>
              <a:t>start_date</a:t>
            </a:r>
            <a:r>
              <a:rPr dirty="0"/>
              <a:t>) AS month,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COUNT(</a:t>
            </a:r>
            <a:r>
              <a:rPr dirty="0" err="1"/>
              <a:t>request_id</a:t>
            </a:r>
            <a:r>
              <a:rPr dirty="0"/>
              <a:t>) AS </a:t>
            </a:r>
            <a:r>
              <a:rPr dirty="0" err="1"/>
              <a:t>monthly_requests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Leave_Requests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GROUP BY YEAR(</a:t>
            </a:r>
            <a:r>
              <a:rPr dirty="0" err="1"/>
              <a:t>start_date</a:t>
            </a:r>
            <a:r>
              <a:rPr dirty="0"/>
              <a:t>),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  MONTH(</a:t>
            </a:r>
            <a:r>
              <a:rPr dirty="0" err="1"/>
              <a:t>start_date</a:t>
            </a:r>
            <a:r>
              <a:rPr dirty="0"/>
              <a:t>),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  MONTHNAME(</a:t>
            </a:r>
            <a:r>
              <a:rPr dirty="0" err="1"/>
              <a:t>start_date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ORDER BY MONTH(</a:t>
            </a:r>
            <a:r>
              <a:rPr dirty="0" err="1"/>
              <a:t>start_date</a:t>
            </a:r>
            <a:r>
              <a:rPr dirty="0"/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10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t>GROUP BY and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Group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54030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GROUP BY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Groups requests for each employee.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COUNT()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Counts the requests per employee.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HAVING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Keeps employees with more than one request.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Useful for identifying frequent leave applicants.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547808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e.employee_name</a:t>
            </a:r>
            <a:r>
              <a:rPr dirty="0"/>
              <a:t>,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 COUNT(</a:t>
            </a:r>
            <a:r>
              <a:rPr dirty="0" err="1"/>
              <a:t>lr.request_id</a:t>
            </a:r>
            <a:r>
              <a:rPr dirty="0"/>
              <a:t>) AS </a:t>
            </a:r>
            <a:r>
              <a:rPr dirty="0" err="1"/>
              <a:t>total_requests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FROM Employees e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JOIN </a:t>
            </a:r>
            <a:r>
              <a:rPr dirty="0" err="1"/>
              <a:t>Leave_Requests</a:t>
            </a:r>
            <a:r>
              <a:rPr dirty="0"/>
              <a:t> </a:t>
            </a:r>
            <a:r>
              <a:rPr dirty="0" err="1"/>
              <a:t>lr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ON </a:t>
            </a:r>
            <a:r>
              <a:rPr dirty="0" err="1"/>
              <a:t>e.employee_id</a:t>
            </a:r>
            <a:r>
              <a:rPr dirty="0"/>
              <a:t> = </a:t>
            </a:r>
            <a:r>
              <a:rPr dirty="0" err="1"/>
              <a:t>lr.employee_id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GROUP BY </a:t>
            </a:r>
            <a:r>
              <a:rPr dirty="0" err="1"/>
              <a:t>e.employee_id</a:t>
            </a:r>
            <a:r>
              <a:rPr dirty="0"/>
              <a:t>, </a:t>
            </a:r>
            <a:r>
              <a:rPr dirty="0" err="1"/>
              <a:t>e.employee_name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HAVING COUNT(</a:t>
            </a:r>
            <a:r>
              <a:rPr dirty="0" err="1"/>
              <a:t>lr.request_id</a:t>
            </a:r>
            <a:r>
              <a:rPr dirty="0"/>
              <a:t>) &gt; 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E6E80"/>
                </a:solidFill>
                <a:latin typeface="Aptos"/>
              </a:defRPr>
            </a:pPr>
            <a:r>
              <a:t>EMPLOYEE LEAVE MANAGEMENT SYSTEM  •  SQL DATABASE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11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t>Subqueries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Nested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234501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Above Average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Compare each balance with the average balance.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MAX()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Can be used to identify the highest balance.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NOT EXISTS</a:t>
            </a:r>
          </a:p>
          <a:p>
            <a:pPr>
              <a:spcAft>
                <a:spcPts val="500"/>
              </a:spcAft>
              <a:defRPr sz="1600" b="0">
                <a:solidFill>
                  <a:srgbClr val="2A3648"/>
                </a:solidFill>
                <a:latin typeface="Aptos"/>
              </a:defRPr>
            </a:pPr>
            <a:r>
              <a:t>Can find employees who have no leave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7014" y="2208037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balance_id</a:t>
            </a:r>
            <a:r>
              <a:rPr dirty="0"/>
              <a:t>, </a:t>
            </a:r>
            <a:r>
              <a:rPr dirty="0" err="1"/>
              <a:t>employee_id</a:t>
            </a:r>
            <a:r>
              <a:rPr dirty="0"/>
              <a:t>, </a:t>
            </a:r>
            <a:r>
              <a:rPr dirty="0" err="1"/>
              <a:t>remaining_days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Leave_Balances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WHERE </a:t>
            </a:r>
            <a:r>
              <a:rPr dirty="0" err="1"/>
              <a:t>remaining_days</a:t>
            </a:r>
            <a:r>
              <a:rPr dirty="0"/>
              <a:t> &gt; (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SELECT AVG(</a:t>
            </a:r>
            <a:r>
              <a:rPr dirty="0" err="1"/>
              <a:t>remaining_days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FROM </a:t>
            </a:r>
            <a:r>
              <a:rPr dirty="0" err="1"/>
              <a:t>Leave_Balances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E6E80"/>
                </a:solidFill>
                <a:latin typeface="Aptos"/>
              </a:defRPr>
            </a:pPr>
            <a:r>
              <a:t>EMPLOYEE LEAVE MANAGEMENT SYSTEM  •  SQL DATABASE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12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645"/>
                </a:solidFill>
                <a:latin typeface="Aptos"/>
              </a:defRPr>
            </a:pPr>
            <a:r>
              <a:t>Stored Procedure: Approve_Leave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Transaction-safe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Validates Input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Checks available leave days before approval.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Locks Rows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FOR UPDATE helps prevent conflicting balance changes.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All or Nothing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COMMIT on success; ROLLBACK on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6086" y="1774895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CREATE PROCEDURE </a:t>
            </a:r>
            <a:r>
              <a:rPr dirty="0" err="1"/>
              <a:t>Approve_Leave</a:t>
            </a:r>
            <a:r>
              <a:rPr dirty="0"/>
              <a:t>(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IN </a:t>
            </a:r>
            <a:r>
              <a:rPr dirty="0" err="1"/>
              <a:t>p_request_id</a:t>
            </a:r>
            <a:r>
              <a:rPr dirty="0"/>
              <a:t> INT, IN </a:t>
            </a:r>
            <a:r>
              <a:rPr dirty="0" err="1"/>
              <a:t>p_emp_id</a:t>
            </a:r>
            <a:r>
              <a:rPr dirty="0"/>
              <a:t> INT,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IN </a:t>
            </a:r>
            <a:r>
              <a:rPr dirty="0" err="1"/>
              <a:t>p_type_id</a:t>
            </a:r>
            <a:r>
              <a:rPr dirty="0"/>
              <a:t> INT, IN </a:t>
            </a:r>
            <a:r>
              <a:rPr dirty="0" err="1"/>
              <a:t>p_days</a:t>
            </a:r>
            <a:r>
              <a:rPr dirty="0"/>
              <a:t> INT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)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BEGIN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DECLARE </a:t>
            </a:r>
            <a:r>
              <a:rPr dirty="0" err="1"/>
              <a:t>v_rem_days</a:t>
            </a:r>
            <a:r>
              <a:rPr dirty="0"/>
              <a:t> INT;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DECLARE EXIT HANDLER FOR SQLEXCEPTION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BEGIN ROLLBACK; RESIGNAL; END;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START TRANSACTION;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SELECT </a:t>
            </a:r>
            <a:r>
              <a:rPr dirty="0" err="1"/>
              <a:t>remaining_days</a:t>
            </a:r>
            <a:r>
              <a:rPr dirty="0"/>
              <a:t> INTO </a:t>
            </a:r>
            <a:r>
              <a:rPr dirty="0" err="1"/>
              <a:t>v_rem_days</a:t>
            </a:r>
            <a:endParaRPr dirty="0"/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FROM </a:t>
            </a:r>
            <a:r>
              <a:rPr dirty="0" err="1"/>
              <a:t>Leave_Balances</a:t>
            </a:r>
            <a:endParaRPr dirty="0"/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WHERE </a:t>
            </a:r>
            <a:r>
              <a:rPr dirty="0" err="1"/>
              <a:t>employee_id</a:t>
            </a:r>
            <a:r>
              <a:rPr dirty="0"/>
              <a:t> = </a:t>
            </a:r>
            <a:r>
              <a:rPr dirty="0" err="1"/>
              <a:t>p_emp_id</a:t>
            </a:r>
            <a:endParaRPr dirty="0"/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AND </a:t>
            </a:r>
            <a:r>
              <a:rPr dirty="0" err="1"/>
              <a:t>leave_type_id</a:t>
            </a:r>
            <a:r>
              <a:rPr dirty="0"/>
              <a:t> = </a:t>
            </a:r>
            <a:r>
              <a:rPr dirty="0" err="1"/>
              <a:t>p_type_id</a:t>
            </a:r>
            <a:r>
              <a:rPr dirty="0"/>
              <a:t> FOR UPDATE;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IF </a:t>
            </a:r>
            <a:r>
              <a:rPr dirty="0" err="1"/>
              <a:t>v_rem_days</a:t>
            </a:r>
            <a:r>
              <a:rPr dirty="0"/>
              <a:t> &lt; </a:t>
            </a:r>
            <a:r>
              <a:rPr dirty="0" err="1"/>
              <a:t>p_days</a:t>
            </a:r>
            <a:r>
              <a:rPr dirty="0"/>
              <a:t> THEN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SIGNAL SQLSTATE '45000'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  SET MESSAGE_TEXT = 'Insufficient leave balance';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END IF;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UPDATE </a:t>
            </a:r>
            <a:r>
              <a:rPr dirty="0" err="1"/>
              <a:t>Leave_Balances</a:t>
            </a:r>
            <a:endParaRPr dirty="0"/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SET </a:t>
            </a:r>
            <a:r>
              <a:rPr dirty="0" err="1"/>
              <a:t>remaining_days</a:t>
            </a:r>
            <a:r>
              <a:rPr dirty="0"/>
              <a:t> = </a:t>
            </a:r>
            <a:r>
              <a:rPr dirty="0" err="1"/>
              <a:t>remaining_days</a:t>
            </a:r>
            <a:r>
              <a:rPr dirty="0"/>
              <a:t> - </a:t>
            </a:r>
            <a:r>
              <a:rPr dirty="0" err="1"/>
              <a:t>p_days</a:t>
            </a:r>
            <a:endParaRPr dirty="0"/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WHERE </a:t>
            </a:r>
            <a:r>
              <a:rPr dirty="0" err="1"/>
              <a:t>employee_id</a:t>
            </a:r>
            <a:r>
              <a:rPr dirty="0"/>
              <a:t> = </a:t>
            </a:r>
            <a:r>
              <a:rPr dirty="0" err="1"/>
              <a:t>p_emp_id</a:t>
            </a:r>
            <a:endParaRPr dirty="0"/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  AND </a:t>
            </a:r>
            <a:r>
              <a:rPr dirty="0" err="1"/>
              <a:t>leave_type_id</a:t>
            </a:r>
            <a:r>
              <a:rPr dirty="0"/>
              <a:t> = </a:t>
            </a:r>
            <a:r>
              <a:rPr dirty="0" err="1"/>
              <a:t>p_type_id</a:t>
            </a:r>
            <a:r>
              <a:rPr dirty="0"/>
              <a:t>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UPDATE </a:t>
            </a:r>
            <a:r>
              <a:rPr dirty="0" err="1"/>
              <a:t>Leave_Requests</a:t>
            </a:r>
            <a:r>
              <a:rPr dirty="0"/>
              <a:t> SET status = 'Approved'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WHERE </a:t>
            </a:r>
            <a:r>
              <a:rPr dirty="0" err="1"/>
              <a:t>request_id</a:t>
            </a:r>
            <a:r>
              <a:rPr dirty="0"/>
              <a:t> = </a:t>
            </a:r>
            <a:r>
              <a:rPr dirty="0" err="1"/>
              <a:t>p_request_id</a:t>
            </a:r>
            <a:r>
              <a:rPr dirty="0"/>
              <a:t>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  COMMIT;</a:t>
            </a:r>
          </a:p>
          <a:p>
            <a:pPr>
              <a:spcAft>
                <a:spcPts val="200"/>
              </a:spcAft>
              <a:defRPr sz="900" b="0">
                <a:solidFill>
                  <a:srgbClr val="BBF5DC"/>
                </a:solidFill>
                <a:latin typeface="Consolas"/>
              </a:defRPr>
            </a:pPr>
            <a:r>
              <a:rPr dirty="0"/>
              <a:t>END;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E6E80"/>
                </a:solidFill>
                <a:latin typeface="Aptos"/>
              </a:defRPr>
            </a:pPr>
            <a:r>
              <a:t>EMPLOYEE LEAVE MANAGEMENT SYSTEM  •  SQL DATABASE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15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62645"/>
                </a:solidFill>
                <a:latin typeface="Aptos"/>
              </a:defRPr>
            </a:pPr>
            <a:r>
              <a:t>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32688"/>
            <a:ext cx="10881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991"/>
                </a:solidFill>
                <a:latin typeface="Aptos"/>
              </a:defRPr>
            </a:pPr>
            <a:r>
              <a:t>SQL  |  Automated safeguards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074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4709160" cy="4645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After_Leave_Request_Insert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Automatically logs each new leave request.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Before_Leave_Balance_Update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Blocks an update that would make the balance negative.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 b="0">
                <a:solidFill>
                  <a:srgbClr val="2A3648"/>
                </a:solidFill>
                <a:latin typeface="Aptos"/>
              </a:defRPr>
            </a:pPr>
            <a:r>
              <a:t>Triggers enforce rules without relying only on application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5742432" cy="4983480"/>
          </a:xfrm>
          <a:prstGeom prst="roundRect">
            <a:avLst/>
          </a:prstGeom>
          <a:solidFill>
            <a:srgbClr val="192A40"/>
          </a:solidFill>
          <a:ln w="12700"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25140" y="2015532"/>
            <a:ext cx="5285232" cy="4389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CREATE TRIGGER After_Leave_Request_Insert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AFTER INSERT ON Leave_Requests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FOR EACH ROW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 INSERT INTO Leave_Request_Log (request_id, status)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 VALUES (NEW.request_id, NEW.status);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END;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CREATE TRIGGER Before_Leave_Balance_Update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BEFORE UPDATE ON Leave_Balances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FOR EACH ROW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 IF NEW.remaining_days &lt; 0 THEN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   SIGNAL SQLSTATE '45000'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     SET MESSAGE_TEXT =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     'Leave balance cannot be negative';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  END IF;</a:t>
            </a:r>
          </a:p>
          <a:p>
            <a:pPr>
              <a:spcAft>
                <a:spcPts val="200"/>
              </a:spcAft>
              <a:defRPr sz="1000" b="0">
                <a:solidFill>
                  <a:srgbClr val="BBF5DC"/>
                </a:solidFill>
                <a:latin typeface="Consolas"/>
              </a:defRPr>
            </a:pPr>
            <a:r>
              <a:t>END;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E6E80"/>
                </a:solidFill>
                <a:latin typeface="Aptos"/>
              </a:defRPr>
            </a:pPr>
            <a:r>
              <a:t>EMPLOYEE LEAVE MANAGEMENT SYSTEM  •  SQL DATABASE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16 /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0881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46304" cy="42519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9767" y="2963617"/>
            <a:ext cx="9418320" cy="60939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62645"/>
                </a:solidFill>
                <a:latin typeface="Aptos"/>
              </a:defRPr>
            </a:pPr>
            <a:r>
              <a:rPr lang="en-US" dirty="0"/>
              <a:t>                                      THANK YOU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008991"/>
                </a:solidFill>
                <a:latin typeface="Aptos"/>
              </a:defRPr>
            </a:pPr>
            <a:r>
              <a:t>17 / 17</a:t>
            </a:r>
          </a:p>
        </p:txBody>
      </p:sp>
    </p:spTree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1398</Words>
  <Application>Microsoft Office PowerPoint</Application>
  <PresentationFormat>Widescreen</PresentationFormat>
  <Paragraphs>236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Consolas</vt:lpstr>
      <vt:lpstr>Ledger</vt:lpstr>
      <vt:lpstr>Mozilla Text</vt:lpstr>
      <vt:lpstr>Mozilla Text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VARUN CH</cp:lastModifiedBy>
  <cp:revision>3</cp:revision>
  <dcterms:created xsi:type="dcterms:W3CDTF">2013-01-27T09:14:16Z</dcterms:created>
  <dcterms:modified xsi:type="dcterms:W3CDTF">2026-10-25T09:28:59Z</dcterms:modified>
  <cp:category/>
</cp:coreProperties>
</file>